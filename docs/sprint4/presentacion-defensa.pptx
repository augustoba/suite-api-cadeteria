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c40a42aa-8c62-6ce4-76be-d574ea9a8971}">
          <p14:sldIdLst>
            <p14:sldId id="256"/>
          </p14:sldIdLst>
        </p14:section>
        <p14:section name="Contexto" id="{99a01af8-00f1-2760-9b67-8c99bf44bbe1}">
          <p14:sldIdLst>
            <p14:sldId id="257"/>
            <p14:sldId id="258"/>
          </p14:sldIdLst>
        </p14:section>
        <p14:section name="La suite" id="{822557d7-eafb-c903-d9f6-e2dad4d77aad}">
          <p14:sldIdLst>
            <p14:sldId id="259"/>
            <p14:sldId id="260"/>
          </p14:sldIdLst>
        </p14:section>
        <p14:section name="Pipeline" id="{14d23acf-bb5b-bd24-0bfd-328feafc08c2}">
          <p14:sldIdLst>
            <p14:sldId id="261"/>
            <p14:sldId id="262"/>
          </p14:sldIdLst>
        </p14:section>
        <p14:section name="Resultados" id="{e5052db7-92ea-6f2a-8880-66170fbf027b}">
          <p14:sldIdLst>
            <p14:sldId id="263"/>
            <p14:sldId id="264"/>
            <p14:sldId id="265"/>
          </p14:sldIdLst>
        </p14:section>
        <p14:section name="Cierre" id="{1059b083-7bda-715d-6011-7192f37d2e5f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A364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A3646"/>
                </a:solidFill>
                <a:latin typeface="+mn-lt"/>
              </a:rPr>
              <a:t>Código del backend ejercitado por la suite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Sprint 3</c:v>
                </c:pt>
              </c:strCache>
            </c:strRef>
          </c:tx>
          <c:spPr>
            <a:solidFill>
              <a:srgbClr val="B8C4C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364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Líneas</c:v>
                  </c:pt>
                  <c:pt idx="1">
                    <c:v>Ramas (if/else)</c:v>
                  </c:pt>
                  <c:pt idx="2">
                    <c:v>Métodos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27.6</c:v>
                </c:pt>
                <c:pt idx="1">
                  <c:v>5.4</c:v>
                </c:pt>
                <c:pt idx="2">
                  <c:v>27.8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Sprint 4</c:v>
                </c:pt>
              </c:strCache>
            </c:strRef>
          </c:tx>
          <c:spPr>
            <a:solidFill>
              <a:srgbClr val="1F9D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A364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Líneas</c:v>
                  </c:pt>
                  <c:pt idx="1">
                    <c:v>Ramas (if/else)</c:v>
                  </c:pt>
                  <c:pt idx="2">
                    <c:v>Métodos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32.2</c:v>
                </c:pt>
                <c:pt idx="1">
                  <c:v>9.7</c:v>
                </c:pt>
                <c:pt idx="2">
                  <c:v>32.5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A364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79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A364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Leandro abre. Las dos etiquetas son la historia del sprint: la suite del Sprint 3 contra la API real, con base nueva, quedaba en rojo las 30 veces; la del Sprint 4, en verde las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Leandro. El mock no conocía una regla que el backend ya tenía (versión mínima de la app), y un caso dependía de datos de ejemplo repartidos al azar. Medimos 3 bases nuevas x 10 corridas.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Leandro. El Sprint 1 fue sobre la API de Gestión de Alumnos; en el Sprint 2 cambiamos a la de cadetería porque es un sistema con un cliente real y reglas de negocio de verdad, y le podíamos dedicar más tiempo. Siempre se prueba sobre una copia, nunca sobre la del cliente. Mostrar después en GitHub los commits, uno por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Germán. Explicar por qué no cubrimos 201 endpoints: elegimos por riesgo. Las técnicas son las del Sprint 2, aplicadas también al flujo nuevo.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Germán. Acá conviene la demo en Postman: abrir el caso 21 y correr la colección contra el instituto. Teníamos 33 casos armados y elegimos 22: hacer mejor, no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Augusto. Mostrar una ejecución en verde, el resumen con cobertura, los artifacts y la página de Pages. Run workflow con iteraciones = 10 para mostrar cómo medimos estabilidad.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Augusto. Hay 14 decisiones en el documento final (sección 4); estas son las que más preguntan. Cada una tiene la alternativa descartada.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Jorge. Medido con JaCoCo pegado a la API mientras corre la suite. Más de un tercio del 32 % es el arranque de la aplicación; lo que muestra el avance son las ramas. Respuesta promedio local 47 ms, p95 181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Jorge. H5 lo encontramos al correr la suite contra el instituto con una contraseña equivocada: dejamos bloqueado al cadete de prueba y revisamos el código. Es el más importante para el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Jorge o quien cierre. Una lección por integrante, si quieren repartirla.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Augusto cierra y abre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Grupo 5 · Sprint 4 · Suite de la API de cadetería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Del verde falso al verde confiable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Sprint 4 · Especialización, optimización y defensa final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Suite automatizada de la API de cadetería · Postman + Newman + GitHub Actions</a:t>
            </a:r>
            <a:endParaRPr lang="en-US" sz="2000" dirty="0"/>
          </a:p>
        </p:txBody>
      </p:sp>
      <p:sp>
        <p:nvSpPr>
          <p:cNvPr id="4" name="estado-1"/>
          <p:cNvSpPr txBox="1"/>
          <p:nvPr/>
        </p:nvSpPr>
        <p:spPr>
          <a:xfrm>
            <a:off x="731520" y="1097280"/>
            <a:ext cx="2103120" cy="329184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SPRINT 3: 0 / 30</a:t>
            </a:r>
            <a:endParaRPr lang="en-US" sz="1200" dirty="0"/>
          </a:p>
        </p:txBody>
      </p:sp>
      <p:sp>
        <p:nvSpPr>
          <p:cNvPr id="5" name="estado-2"/>
          <p:cNvSpPr txBox="1"/>
          <p:nvPr/>
        </p:nvSpPr>
        <p:spPr>
          <a:xfrm>
            <a:off x="3017520" y="1097280"/>
            <a:ext cx="2103120" cy="329184"/>
          </a:xfrm>
          <a:prstGeom prst="roundRect">
            <a:avLst>
              <a:gd name="adj" fmla="val 41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SPRINT 4: 30 / 30</a:t>
            </a:r>
            <a:endParaRPr lang="en-US" sz="1200" dirty="0"/>
          </a:p>
        </p:txBody>
      </p:sp>
      <p:sp>
        <p:nvSpPr>
          <p:cNvPr id="6" name="texto-3"/>
          <p:cNvSpPr txBox="1"/>
          <p:nvPr/>
        </p:nvSpPr>
        <p:spPr>
          <a:xfrm>
            <a:off x="73152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Grupo 5 · IES Alfredo Coviello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Cesar Augusto Basaury Marquesto · Germán Garnica · Jorge Alberto Medina · Leandro Raúl Vallejo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29 de octubre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100 % del Sprint 3 era contra una imitación</a:t>
            </a:r>
            <a:endParaRPr lang="en-US" sz="3000" dirty="0"/>
          </a:p>
        </p:txBody>
      </p:sp>
      <p:sp>
        <p:nvSpPr>
          <p:cNvPr id="3" name="tarjeta-4"/>
          <p:cNvSpPr/>
          <p:nvPr/>
        </p:nvSpPr>
        <p:spPr>
          <a:xfrm>
            <a:off x="548640" y="146304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5"/>
          <p:cNvSpPr txBox="1"/>
          <p:nvPr/>
        </p:nvSpPr>
        <p:spPr>
          <a:xfrm>
            <a:off x="822960" y="1737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5"/>
                </a:solidFill>
              </a:rPr>
              <a:t>100 %</a:t>
            </a:r>
            <a:endParaRPr lang="en-US" sz="6000" dirty="0"/>
          </a:p>
        </p:txBody>
      </p:sp>
      <p:sp>
        <p:nvSpPr>
          <p:cNvPr id="5" name="texto-6"/>
          <p:cNvSpPr txBox="1"/>
          <p:nvPr/>
        </p:nvSpPr>
        <p:spPr>
          <a:xfrm>
            <a:off x="822960" y="3017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en verde contra el mock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(Sprint 3)</a:t>
            </a:r>
            <a:endParaRPr lang="en-US" sz="1600" dirty="0"/>
          </a:p>
        </p:txBody>
      </p:sp>
      <p:sp>
        <p:nvSpPr>
          <p:cNvPr id="6" name="tarjeta-7"/>
          <p:cNvSpPr/>
          <p:nvPr/>
        </p:nvSpPr>
        <p:spPr>
          <a:xfrm>
            <a:off x="4343400" y="146304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-8"/>
          <p:cNvSpPr txBox="1"/>
          <p:nvPr/>
        </p:nvSpPr>
        <p:spPr>
          <a:xfrm>
            <a:off x="4617720" y="1737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 / 30</a:t>
            </a:r>
            <a:endParaRPr lang="en-US" sz="6000" dirty="0"/>
          </a:p>
        </p:txBody>
      </p:sp>
      <p:sp>
        <p:nvSpPr>
          <p:cNvPr id="8" name="texto-9"/>
          <p:cNvSpPr txBox="1"/>
          <p:nvPr/>
        </p:nvSpPr>
        <p:spPr>
          <a:xfrm>
            <a:off x="4617720" y="3017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corridas en verde contra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la API real, base nueva</a:t>
            </a:r>
            <a:endParaRPr lang="en-US" sz="1600" dirty="0"/>
          </a:p>
        </p:txBody>
      </p:sp>
      <p:sp>
        <p:nvSpPr>
          <p:cNvPr id="9" name="tarjeta-10"/>
          <p:cNvSpPr/>
          <p:nvPr/>
        </p:nvSpPr>
        <p:spPr>
          <a:xfrm>
            <a:off x="8138160" y="1463040"/>
            <a:ext cx="352044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-11"/>
          <p:cNvSpPr txBox="1"/>
          <p:nvPr/>
        </p:nvSpPr>
        <p:spPr>
          <a:xfrm>
            <a:off x="8412480" y="173736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30 / 30</a:t>
            </a:r>
            <a:endParaRPr lang="en-US" sz="6000" dirty="0"/>
          </a:p>
        </p:txBody>
      </p:sp>
      <p:sp>
        <p:nvSpPr>
          <p:cNvPr id="11" name="texto-12"/>
          <p:cNvSpPr txBox="1"/>
          <p:nvPr/>
        </p:nvSpPr>
        <p:spPr>
          <a:xfrm>
            <a:off x="8412480" y="30175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corridas en verde con la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suite del Sprint 4</a:t>
            </a:r>
            <a:endParaRPr lang="en-US" sz="1600" dirty="0"/>
          </a:p>
        </p:txBody>
      </p:sp>
      <p:sp>
        <p:nvSpPr>
          <p:cNvPr id="12" name="texto-13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Un verde que no prueba contra el sistema real es una falsa seguridad. Este sprint no fue de hacer más: fue de hacer que el verde signifique algo.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Ocho semanas en cuatro sprints</a:t>
            </a:r>
            <a:endParaRPr lang="en-US" sz="3000" dirty="0"/>
          </a:p>
        </p:txBody>
      </p:sp>
      <p:sp>
        <p:nvSpPr>
          <p:cNvPr id="3" name="linea-tiempo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25400">
            <a:solidFill>
              <a:srgbClr val="B8C4CF"/>
            </a:solidFill>
            <a:prstDash val="solid"/>
          </a:ln>
        </p:spPr>
      </p:sp>
      <p:sp>
        <p:nvSpPr>
          <p:cNvPr id="4" name="hito-14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arjeta-15"/>
          <p:cNvSpPr/>
          <p:nvPr/>
        </p:nvSpPr>
        <p:spPr>
          <a:xfrm>
            <a:off x="548640" y="237744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-16"/>
          <p:cNvSpPr txBox="1"/>
          <p:nvPr/>
        </p:nvSpPr>
        <p:spPr>
          <a:xfrm>
            <a:off x="77724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Sprint 1</a:t>
            </a:r>
            <a:endParaRPr lang="en-US" sz="2200" dirty="0"/>
          </a:p>
        </p:txBody>
      </p:sp>
      <p:sp>
        <p:nvSpPr>
          <p:cNvPr id="7" name="texto-17"/>
          <p:cNvSpPr txBox="1"/>
          <p:nvPr/>
        </p:nvSpPr>
        <p:spPr>
          <a:xfrm>
            <a:off x="77724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Semanas 1–2</a:t>
            </a:r>
            <a:endParaRPr lang="en-US" sz="1200" dirty="0"/>
          </a:p>
        </p:txBody>
      </p:sp>
      <p:sp>
        <p:nvSpPr>
          <p:cNvPr id="8" name="texto-18"/>
          <p:cNvSpPr txBox="1"/>
          <p:nvPr/>
        </p:nvSpPr>
        <p:spPr>
          <a:xfrm>
            <a:off x="777240" y="3474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Teoría, Postman y la API de Gestión de Alumnos. Primer hallazgo: un login fallido daba 500.</a:t>
            </a:r>
            <a:endParaRPr lang="en-US" sz="1500" dirty="0"/>
          </a:p>
        </p:txBody>
      </p:sp>
      <p:sp>
        <p:nvSpPr>
          <p:cNvPr id="9" name="hito-19"/>
          <p:cNvSpPr/>
          <p:nvPr/>
        </p:nvSpPr>
        <p:spPr>
          <a:xfrm>
            <a:off x="3520440" y="1645920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arjeta-20"/>
          <p:cNvSpPr/>
          <p:nvPr/>
        </p:nvSpPr>
        <p:spPr>
          <a:xfrm>
            <a:off x="3383280" y="237744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o-21"/>
          <p:cNvSpPr txBox="1"/>
          <p:nvPr/>
        </p:nvSpPr>
        <p:spPr>
          <a:xfrm>
            <a:off x="361188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Sprint 2</a:t>
            </a:r>
            <a:endParaRPr lang="en-US" sz="2200" dirty="0"/>
          </a:p>
        </p:txBody>
      </p:sp>
      <p:sp>
        <p:nvSpPr>
          <p:cNvPr id="12" name="texto-22"/>
          <p:cNvSpPr txBox="1"/>
          <p:nvPr/>
        </p:nvSpPr>
        <p:spPr>
          <a:xfrm>
            <a:off x="36118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Semanas 3–4</a:t>
            </a:r>
            <a:endParaRPr lang="en-US" sz="1200" dirty="0"/>
          </a:p>
        </p:txBody>
      </p:sp>
      <p:sp>
        <p:nvSpPr>
          <p:cNvPr id="13" name="texto-23"/>
          <p:cNvSpPr txBox="1"/>
          <p:nvPr/>
        </p:nvSpPr>
        <p:spPr>
          <a:xfrm>
            <a:off x="3611880" y="3474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Cambio a la API de cadetería. 15 casos (5 endpoints × 3) y matriz de trazabilidad.</a:t>
            </a:r>
            <a:endParaRPr lang="en-US" sz="1500" dirty="0"/>
          </a:p>
        </p:txBody>
      </p:sp>
      <p:sp>
        <p:nvSpPr>
          <p:cNvPr id="14" name="hito-24"/>
          <p:cNvSpPr/>
          <p:nvPr/>
        </p:nvSpPr>
        <p:spPr>
          <a:xfrm>
            <a:off x="6355080" y="1645920"/>
            <a:ext cx="457200" cy="457200"/>
          </a:xfrm>
          <a:prstGeom prst="ellipse">
            <a:avLst/>
          </a:prstGeom>
          <a:solidFill>
            <a:schemeClr val="tx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arjeta-25"/>
          <p:cNvSpPr/>
          <p:nvPr/>
        </p:nvSpPr>
        <p:spPr>
          <a:xfrm>
            <a:off x="6217920" y="237744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-26"/>
          <p:cNvSpPr txBox="1"/>
          <p:nvPr/>
        </p:nvSpPr>
        <p:spPr>
          <a:xfrm>
            <a:off x="644652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Sprint 3</a:t>
            </a:r>
            <a:endParaRPr lang="en-US" sz="2200" dirty="0"/>
          </a:p>
        </p:txBody>
      </p:sp>
      <p:sp>
        <p:nvSpPr>
          <p:cNvPr id="17" name="texto-27"/>
          <p:cNvSpPr txBox="1"/>
          <p:nvPr/>
        </p:nvSpPr>
        <p:spPr>
          <a:xfrm>
            <a:off x="644652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Semanas 5–6</a:t>
            </a:r>
            <a:endParaRPr lang="en-US" sz="1200" dirty="0"/>
          </a:p>
        </p:txBody>
      </p:sp>
      <p:sp>
        <p:nvSpPr>
          <p:cNvPr id="18" name="texto-28"/>
          <p:cNvSpPr txBox="1"/>
          <p:nvPr/>
        </p:nvSpPr>
        <p:spPr>
          <a:xfrm>
            <a:off x="6446520" y="3474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Newman, reportes y GitHub Actions. De 35 a 90 aserciones. El pipeline corría contra un mock.</a:t>
            </a:r>
            <a:endParaRPr lang="en-US" sz="1500" dirty="0"/>
          </a:p>
        </p:txBody>
      </p:sp>
      <p:sp>
        <p:nvSpPr>
          <p:cNvPr id="19" name="hito-29"/>
          <p:cNvSpPr/>
          <p:nvPr/>
        </p:nvSpPr>
        <p:spPr>
          <a:xfrm>
            <a:off x="9189720" y="1645920"/>
            <a:ext cx="457200" cy="45720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arjeta-30"/>
          <p:cNvSpPr/>
          <p:nvPr/>
        </p:nvSpPr>
        <p:spPr>
          <a:xfrm>
            <a:off x="9052560" y="2377440"/>
            <a:ext cx="2606040" cy="26517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o-31"/>
          <p:cNvSpPr txBox="1"/>
          <p:nvPr/>
        </p:nvSpPr>
        <p:spPr>
          <a:xfrm>
            <a:off x="928116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Sprint 4</a:t>
            </a:r>
            <a:endParaRPr lang="en-US" sz="2200" dirty="0"/>
          </a:p>
        </p:txBody>
      </p:sp>
      <p:sp>
        <p:nvSpPr>
          <p:cNvPr id="22" name="texto-32"/>
          <p:cNvSpPr txBox="1"/>
          <p:nvPr/>
        </p:nvSpPr>
        <p:spPr>
          <a:xfrm>
            <a:off x="928116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Semanas 7–8</a:t>
            </a:r>
            <a:endParaRPr lang="en-US" sz="1200" dirty="0"/>
          </a:p>
        </p:txBody>
      </p:sp>
      <p:sp>
        <p:nvSpPr>
          <p:cNvPr id="23" name="texto-33"/>
          <p:cNvSpPr txBox="1"/>
          <p:nvPr/>
        </p:nvSpPr>
        <p:spPr>
          <a:xfrm>
            <a:off x="9281160" y="347472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Contra la API real: estabilizar, medir, encontrar y explicar. 22 casos, 30 / 30 en verde.</a:t>
            </a:r>
            <a:endParaRPr lang="en-US" sz="1500" dirty="0"/>
          </a:p>
        </p:txBody>
      </p:sp>
      <p:sp>
        <p:nvSpPr>
          <p:cNvPr id="24" name="texto-34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Lección del Sprint 2: "incorporaríamos Newman en un pipeline de CI/CD". La cumplimos en el Sprint 3 y la hicimos confiable en el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Probamos lo que, si falla, cuesta plata</a:t>
            </a:r>
            <a:endParaRPr lang="en-US" sz="3000" dirty="0"/>
          </a:p>
        </p:txBody>
      </p:sp>
      <p:sp>
        <p:nvSpPr>
          <p:cNvPr id="3" name="tarjeta-35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36"/>
          <p:cNvSpPr txBox="1"/>
          <p:nvPr/>
        </p:nvSpPr>
        <p:spPr>
          <a:xfrm>
            <a:off x="82296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Acceso</a:t>
            </a:r>
            <a:endParaRPr lang="en-US" sz="2200" dirty="0"/>
          </a:p>
        </p:txBody>
      </p:sp>
      <p:sp>
        <p:nvSpPr>
          <p:cNvPr id="5" name="estado-37"/>
          <p:cNvSpPr txBox="1"/>
          <p:nvPr/>
        </p:nvSpPr>
        <p:spPr>
          <a:xfrm>
            <a:off x="3657600" y="1691640"/>
            <a:ext cx="2103120" cy="329184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Casos 01–09, 12, 14, 15</a:t>
            </a:r>
            <a:endParaRPr lang="en-US" sz="1200" dirty="0"/>
          </a:p>
        </p:txBody>
      </p:sp>
      <p:sp>
        <p:nvSpPr>
          <p:cNvPr id="6" name="texto-38"/>
          <p:cNvSpPr txBox="1"/>
          <p:nvPr/>
        </p:nvSpPr>
        <p:spPr>
          <a:xfrm>
            <a:off x="822960" y="22860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Login, sesión única por cadete, permisos por rol. Que entre quien debe y vea solo lo suyo.</a:t>
            </a:r>
            <a:endParaRPr lang="en-US" sz="1600" dirty="0"/>
          </a:p>
        </p:txBody>
      </p:sp>
      <p:sp>
        <p:nvSpPr>
          <p:cNvPr id="7" name="tarjeta-39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-40"/>
          <p:cNvSpPr txBox="1"/>
          <p:nvPr/>
        </p:nvSpPr>
        <p:spPr>
          <a:xfrm>
            <a:off x="64465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Disponibilidad</a:t>
            </a:r>
            <a:endParaRPr lang="en-US" sz="2200" dirty="0"/>
          </a:p>
        </p:txBody>
      </p:sp>
      <p:sp>
        <p:nvSpPr>
          <p:cNvPr id="9" name="estado-41"/>
          <p:cNvSpPr txBox="1"/>
          <p:nvPr/>
        </p:nvSpPr>
        <p:spPr>
          <a:xfrm>
            <a:off x="9281160" y="1691640"/>
            <a:ext cx="2103120" cy="329184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Casos 10, 11, 16</a:t>
            </a:r>
            <a:endParaRPr lang="en-US" sz="1200" dirty="0"/>
          </a:p>
        </p:txBody>
      </p:sp>
      <p:sp>
        <p:nvSpPr>
          <p:cNvPr id="10" name="texto-42"/>
          <p:cNvSpPr txBox="1"/>
          <p:nvPr/>
        </p:nvSpPr>
        <p:spPr>
          <a:xfrm>
            <a:off x="6446520" y="22860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Libre / Desconectado y versión mínima de la app: solo reciben viajes los que pueden tomarlos.</a:t>
            </a:r>
            <a:endParaRPr lang="en-US" sz="1600" dirty="0"/>
          </a:p>
        </p:txBody>
      </p:sp>
      <p:sp>
        <p:nvSpPr>
          <p:cNvPr id="11" name="tarjeta-43"/>
          <p:cNvSpPr/>
          <p:nvPr/>
        </p:nvSpPr>
        <p:spPr>
          <a:xfrm>
            <a:off x="548640" y="37490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-44"/>
          <p:cNvSpPr txBox="1"/>
          <p:nvPr/>
        </p:nvSpPr>
        <p:spPr>
          <a:xfrm>
            <a:off x="82296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Ciclo del pedido</a:t>
            </a:r>
            <a:endParaRPr lang="en-US" sz="2200" dirty="0"/>
          </a:p>
        </p:txBody>
      </p:sp>
      <p:sp>
        <p:nvSpPr>
          <p:cNvPr id="13" name="estado-45"/>
          <p:cNvSpPr txBox="1"/>
          <p:nvPr/>
        </p:nvSpPr>
        <p:spPr>
          <a:xfrm>
            <a:off x="3657600" y="4023360"/>
            <a:ext cx="2103120" cy="329184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Casos 13, 17–20, 22</a:t>
            </a:r>
            <a:endParaRPr lang="en-US" sz="1200" dirty="0"/>
          </a:p>
        </p:txBody>
      </p:sp>
      <p:sp>
        <p:nvSpPr>
          <p:cNvPr id="14" name="texto-46"/>
          <p:cNvSpPr txBox="1"/>
          <p:nvPr/>
        </p:nvSpPr>
        <p:spPr>
          <a:xfrm>
            <a:off x="822960" y="46177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Alta → asignación → aceptación → retiro → entrega. Es el servicio que se vende.</a:t>
            </a:r>
            <a:endParaRPr lang="en-US" sz="1600" dirty="0"/>
          </a:p>
        </p:txBody>
      </p:sp>
      <p:sp>
        <p:nvSpPr>
          <p:cNvPr id="15" name="tarjeta-47"/>
          <p:cNvSpPr/>
          <p:nvPr/>
        </p:nvSpPr>
        <p:spPr>
          <a:xfrm>
            <a:off x="6172200" y="37490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-48"/>
          <p:cNvSpPr txBox="1"/>
          <p:nvPr/>
        </p:nvSpPr>
        <p:spPr>
          <a:xfrm>
            <a:off x="6446520" y="3977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Antifraude</a:t>
            </a:r>
            <a:endParaRPr lang="en-US" sz="2200" dirty="0"/>
          </a:p>
        </p:txBody>
      </p:sp>
      <p:sp>
        <p:nvSpPr>
          <p:cNvPr id="17" name="estado-49"/>
          <p:cNvSpPr txBox="1"/>
          <p:nvPr/>
        </p:nvSpPr>
        <p:spPr>
          <a:xfrm>
            <a:off x="9281160" y="4023360"/>
            <a:ext cx="2103120" cy="329184"/>
          </a:xfrm>
          <a:prstGeom prst="roundRect">
            <a:avLst>
              <a:gd name="adj" fmla="val 41667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Casos 21, 22</a:t>
            </a:r>
            <a:endParaRPr lang="en-US" sz="1200" dirty="0"/>
          </a:p>
        </p:txBody>
      </p:sp>
      <p:sp>
        <p:nvSpPr>
          <p:cNvPr id="18" name="texto-50"/>
          <p:cNvSpPr txBox="1"/>
          <p:nvPr/>
        </p:nvSpPr>
        <p:spPr>
          <a:xfrm>
            <a:off x="6446520" y="46177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10 minutos mínimos entre retiro y entrega; cierre manual del admin solo con motivo.</a:t>
            </a:r>
            <a:endParaRPr lang="en-US" sz="1600" dirty="0"/>
          </a:p>
        </p:txBody>
      </p:sp>
      <p:sp>
        <p:nvSpPr>
          <p:cNvPr id="19" name="texto-51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Prueba basada en riesgo: de 201 endpoints, cubrimos el camino crítico.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22 casos: los 15 de siempre, estables, y 7 de reglas de negocio</a:t>
            </a:r>
            <a:endParaRPr lang="en-US" sz="3000" dirty="0"/>
          </a:p>
        </p:txBody>
      </p:sp>
      <p:sp>
        <p:nvSpPr>
          <p:cNvPr id="3" name="tarjeta-52"/>
          <p:cNvSpPr/>
          <p:nvPr/>
        </p:nvSpPr>
        <p:spPr>
          <a:xfrm>
            <a:off x="548640" y="15544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53"/>
          <p:cNvSpPr txBox="1"/>
          <p:nvPr/>
        </p:nvSpPr>
        <p:spPr>
          <a:xfrm>
            <a:off x="68580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Caso 17</a:t>
            </a:r>
            <a:endParaRPr lang="en-US" sz="1200" dirty="0"/>
          </a:p>
        </p:txBody>
      </p:sp>
      <p:sp>
        <p:nvSpPr>
          <p:cNvPr id="5" name="texto-54"/>
          <p:cNvSpPr txBox="1"/>
          <p:nvPr/>
        </p:nvSpPr>
        <p:spPr>
          <a:xfrm>
            <a:off x="68580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Alta</a:t>
            </a:r>
            <a:endParaRPr lang="en-US" sz="1800" dirty="0"/>
          </a:p>
        </p:txBody>
      </p:sp>
      <p:sp>
        <p:nvSpPr>
          <p:cNvPr id="6" name="texto-55"/>
          <p:cNvSpPr txBox="1"/>
          <p:nvPr/>
        </p:nvSpPr>
        <p:spPr>
          <a:xfrm>
            <a:off x="68580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SIN_ASIGNAR</a:t>
            </a:r>
            <a:endParaRPr lang="en-US" sz="1300" dirty="0"/>
          </a:p>
        </p:txBody>
      </p:sp>
      <p:sp>
        <p:nvSpPr>
          <p:cNvPr id="7" name="flecha-56"/>
          <p:cNvSpPr/>
          <p:nvPr/>
        </p:nvSpPr>
        <p:spPr>
          <a:xfrm>
            <a:off x="2276856" y="2221992"/>
            <a:ext cx="118872" cy="274320"/>
          </a:xfrm>
          <a:prstGeom prst="chevron">
            <a:avLst/>
          </a:prstGeom>
          <a:solidFill>
            <a:srgbClr val="B8C4CF"/>
          </a:solidFill>
          <a:ln w="12700">
            <a:solidFill>
              <a:srgbClr val="B8C4CF"/>
            </a:solidFill>
            <a:prstDash val="solid"/>
          </a:ln>
        </p:spPr>
      </p:sp>
      <p:sp>
        <p:nvSpPr>
          <p:cNvPr id="8" name="tarjeta-57"/>
          <p:cNvSpPr/>
          <p:nvPr/>
        </p:nvSpPr>
        <p:spPr>
          <a:xfrm>
            <a:off x="2423160" y="15544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o-58"/>
          <p:cNvSpPr txBox="1"/>
          <p:nvPr/>
        </p:nvSpPr>
        <p:spPr>
          <a:xfrm>
            <a:off x="256032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Caso 18</a:t>
            </a:r>
            <a:endParaRPr lang="en-US" sz="1200" dirty="0"/>
          </a:p>
        </p:txBody>
      </p:sp>
      <p:sp>
        <p:nvSpPr>
          <p:cNvPr id="10" name="texto-59"/>
          <p:cNvSpPr txBox="1"/>
          <p:nvPr/>
        </p:nvSpPr>
        <p:spPr>
          <a:xfrm>
            <a:off x="256032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Asignar</a:t>
            </a:r>
            <a:endParaRPr lang="en-US" sz="1800" dirty="0"/>
          </a:p>
        </p:txBody>
      </p:sp>
      <p:sp>
        <p:nvSpPr>
          <p:cNvPr id="11" name="texto-60"/>
          <p:cNvSpPr txBox="1"/>
          <p:nvPr/>
        </p:nvSpPr>
        <p:spPr>
          <a:xfrm>
            <a:off x="256032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al cadete libre</a:t>
            </a:r>
            <a:endParaRPr lang="en-US" sz="1300" dirty="0"/>
          </a:p>
        </p:txBody>
      </p:sp>
      <p:sp>
        <p:nvSpPr>
          <p:cNvPr id="12" name="flecha-61"/>
          <p:cNvSpPr/>
          <p:nvPr/>
        </p:nvSpPr>
        <p:spPr>
          <a:xfrm>
            <a:off x="4151376" y="2221992"/>
            <a:ext cx="118872" cy="274320"/>
          </a:xfrm>
          <a:prstGeom prst="chevron">
            <a:avLst/>
          </a:prstGeom>
          <a:solidFill>
            <a:srgbClr val="B8C4CF"/>
          </a:solidFill>
          <a:ln w="12700">
            <a:solidFill>
              <a:srgbClr val="B8C4CF"/>
            </a:solidFill>
            <a:prstDash val="solid"/>
          </a:ln>
        </p:spPr>
      </p:sp>
      <p:sp>
        <p:nvSpPr>
          <p:cNvPr id="13" name="tarjeta-62"/>
          <p:cNvSpPr/>
          <p:nvPr/>
        </p:nvSpPr>
        <p:spPr>
          <a:xfrm>
            <a:off x="4297680" y="15544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-63"/>
          <p:cNvSpPr txBox="1"/>
          <p:nvPr/>
        </p:nvSpPr>
        <p:spPr>
          <a:xfrm>
            <a:off x="443484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Caso 19</a:t>
            </a:r>
            <a:endParaRPr lang="en-US" sz="1200" dirty="0"/>
          </a:p>
        </p:txBody>
      </p:sp>
      <p:sp>
        <p:nvSpPr>
          <p:cNvPr id="15" name="texto-64"/>
          <p:cNvSpPr txBox="1"/>
          <p:nvPr/>
        </p:nvSpPr>
        <p:spPr>
          <a:xfrm>
            <a:off x="443484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Aceptar</a:t>
            </a:r>
            <a:endParaRPr lang="en-US" sz="1800" dirty="0"/>
          </a:p>
        </p:txBody>
      </p:sp>
      <p:sp>
        <p:nvSpPr>
          <p:cNvPr id="16" name="texto-65"/>
          <p:cNvSpPr txBox="1"/>
          <p:nvPr/>
        </p:nvSpPr>
        <p:spPr>
          <a:xfrm>
            <a:off x="443484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EN_CURSO</a:t>
            </a:r>
            <a:endParaRPr lang="en-US" sz="1300" dirty="0"/>
          </a:p>
        </p:txBody>
      </p:sp>
      <p:sp>
        <p:nvSpPr>
          <p:cNvPr id="17" name="flecha-66"/>
          <p:cNvSpPr/>
          <p:nvPr/>
        </p:nvSpPr>
        <p:spPr>
          <a:xfrm>
            <a:off x="6025896" y="2221992"/>
            <a:ext cx="118872" cy="274320"/>
          </a:xfrm>
          <a:prstGeom prst="chevron">
            <a:avLst/>
          </a:prstGeom>
          <a:solidFill>
            <a:srgbClr val="B8C4CF"/>
          </a:solidFill>
          <a:ln w="12700">
            <a:solidFill>
              <a:srgbClr val="B8C4CF"/>
            </a:solidFill>
            <a:prstDash val="solid"/>
          </a:ln>
        </p:spPr>
      </p:sp>
      <p:sp>
        <p:nvSpPr>
          <p:cNvPr id="18" name="tarjeta-67"/>
          <p:cNvSpPr/>
          <p:nvPr/>
        </p:nvSpPr>
        <p:spPr>
          <a:xfrm>
            <a:off x="6172200" y="15544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o-68"/>
          <p:cNvSpPr txBox="1"/>
          <p:nvPr/>
        </p:nvSpPr>
        <p:spPr>
          <a:xfrm>
            <a:off x="630936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Caso 20</a:t>
            </a:r>
            <a:endParaRPr lang="en-US" sz="1200" dirty="0"/>
          </a:p>
        </p:txBody>
      </p:sp>
      <p:sp>
        <p:nvSpPr>
          <p:cNvPr id="20" name="texto-69"/>
          <p:cNvSpPr txBox="1"/>
          <p:nvPr/>
        </p:nvSpPr>
        <p:spPr>
          <a:xfrm>
            <a:off x="630936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Retirado</a:t>
            </a:r>
            <a:endParaRPr lang="en-US" sz="1800" dirty="0"/>
          </a:p>
        </p:txBody>
      </p:sp>
      <p:sp>
        <p:nvSpPr>
          <p:cNvPr id="21" name="texto-70"/>
          <p:cNvSpPr txBox="1"/>
          <p:nvPr/>
        </p:nvSpPr>
        <p:spPr>
          <a:xfrm>
            <a:off x="630936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hora del retiro</a:t>
            </a:r>
            <a:endParaRPr lang="en-US" sz="1300" dirty="0"/>
          </a:p>
        </p:txBody>
      </p:sp>
      <p:sp>
        <p:nvSpPr>
          <p:cNvPr id="22" name="flecha-71"/>
          <p:cNvSpPr/>
          <p:nvPr/>
        </p:nvSpPr>
        <p:spPr>
          <a:xfrm>
            <a:off x="7900416" y="2221992"/>
            <a:ext cx="118872" cy="274320"/>
          </a:xfrm>
          <a:prstGeom prst="chevron">
            <a:avLst/>
          </a:prstGeom>
          <a:solidFill>
            <a:srgbClr val="B8C4CF"/>
          </a:solidFill>
          <a:ln w="12700">
            <a:solidFill>
              <a:srgbClr val="B8C4CF"/>
            </a:solidFill>
            <a:prstDash val="solid"/>
          </a:ln>
        </p:spPr>
      </p:sp>
      <p:sp>
        <p:nvSpPr>
          <p:cNvPr id="23" name="tarjeta-72"/>
          <p:cNvSpPr/>
          <p:nvPr/>
        </p:nvSpPr>
        <p:spPr>
          <a:xfrm>
            <a:off x="8046720" y="15544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o-73"/>
          <p:cNvSpPr txBox="1"/>
          <p:nvPr/>
        </p:nvSpPr>
        <p:spPr>
          <a:xfrm>
            <a:off x="818388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Caso 21</a:t>
            </a:r>
            <a:endParaRPr lang="en-US" sz="1200" dirty="0"/>
          </a:p>
        </p:txBody>
      </p:sp>
      <p:sp>
        <p:nvSpPr>
          <p:cNvPr id="25" name="texto-74"/>
          <p:cNvSpPr txBox="1"/>
          <p:nvPr/>
        </p:nvSpPr>
        <p:spPr>
          <a:xfrm>
            <a:off x="818388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Finalizar ya</a:t>
            </a:r>
            <a:endParaRPr lang="en-US" sz="1800" dirty="0"/>
          </a:p>
        </p:txBody>
      </p:sp>
      <p:sp>
        <p:nvSpPr>
          <p:cNvPr id="26" name="texto-75"/>
          <p:cNvSpPr txBox="1"/>
          <p:nvPr/>
        </p:nvSpPr>
        <p:spPr>
          <a:xfrm>
            <a:off x="818388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400: faltan 10 min</a:t>
            </a:r>
            <a:endParaRPr lang="en-US" sz="1300" dirty="0"/>
          </a:p>
        </p:txBody>
      </p:sp>
      <p:sp>
        <p:nvSpPr>
          <p:cNvPr id="27" name="flecha-76"/>
          <p:cNvSpPr/>
          <p:nvPr/>
        </p:nvSpPr>
        <p:spPr>
          <a:xfrm>
            <a:off x="9774936" y="2221992"/>
            <a:ext cx="118872" cy="274320"/>
          </a:xfrm>
          <a:prstGeom prst="chevron">
            <a:avLst/>
          </a:prstGeom>
          <a:solidFill>
            <a:srgbClr val="B8C4CF"/>
          </a:solidFill>
          <a:ln w="12700">
            <a:solidFill>
              <a:srgbClr val="B8C4CF"/>
            </a:solidFill>
            <a:prstDash val="solid"/>
          </a:ln>
        </p:spPr>
      </p:sp>
      <p:sp>
        <p:nvSpPr>
          <p:cNvPr id="28" name="tarjeta-77"/>
          <p:cNvSpPr/>
          <p:nvPr/>
        </p:nvSpPr>
        <p:spPr>
          <a:xfrm>
            <a:off x="9921240" y="1554480"/>
            <a:ext cx="16916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o-78"/>
          <p:cNvSpPr txBox="1"/>
          <p:nvPr/>
        </p:nvSpPr>
        <p:spPr>
          <a:xfrm>
            <a:off x="10058400" y="16916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Caso 22</a:t>
            </a:r>
            <a:endParaRPr lang="en-US" sz="1200" dirty="0"/>
          </a:p>
        </p:txBody>
      </p:sp>
      <p:sp>
        <p:nvSpPr>
          <p:cNvPr id="30" name="texto-79"/>
          <p:cNvSpPr txBox="1"/>
          <p:nvPr/>
        </p:nvSpPr>
        <p:spPr>
          <a:xfrm>
            <a:off x="10058400" y="20116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Admin cierra</a:t>
            </a:r>
            <a:endParaRPr lang="en-US" sz="1800" dirty="0"/>
          </a:p>
        </p:txBody>
      </p:sp>
      <p:sp>
        <p:nvSpPr>
          <p:cNvPr id="31" name="texto-80"/>
          <p:cNvSpPr txBox="1"/>
          <p:nvPr/>
        </p:nvSpPr>
        <p:spPr>
          <a:xfrm>
            <a:off x="10058400" y="251460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 motivo → FINALIZADO</a:t>
            </a:r>
            <a:endParaRPr lang="en-US" sz="1300" dirty="0"/>
          </a:p>
        </p:txBody>
      </p:sp>
      <p:sp>
        <p:nvSpPr>
          <p:cNvPr id="32" name="texto-81"/>
          <p:cNvSpPr txBox="1"/>
          <p:nvPr/>
        </p:nvSpPr>
        <p:spPr>
          <a:xfrm>
            <a:off x="548640" y="3794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Antes del flujo</a:t>
            </a:r>
            <a:endParaRPr lang="en-US" sz="1800" dirty="0"/>
          </a:p>
        </p:txBody>
      </p:sp>
      <p:sp>
        <p:nvSpPr>
          <p:cNvPr id="33" name="texto-82"/>
          <p:cNvSpPr txBox="1"/>
          <p:nvPr/>
        </p:nvSpPr>
        <p:spPr>
          <a:xfrm>
            <a:off x="548640" y="42519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Caso 16: una app vieja (versión 0) no puede ponerse Libre → 400.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P6 cierra los reclamos abiertos del cadete, como lo haría el admin.</a:t>
            </a:r>
            <a:endParaRPr lang="en-US" sz="1500" dirty="0"/>
          </a:p>
        </p:txBody>
      </p:sp>
      <p:sp>
        <p:nvSpPr>
          <p:cNvPr id="34" name="texto-83"/>
          <p:cNvSpPr txBox="1"/>
          <p:nvPr/>
        </p:nvSpPr>
        <p:spPr>
          <a:xfrm>
            <a:off x="6217920" y="37947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Después del flujo</a:t>
            </a:r>
            <a:endParaRPr lang="en-US" sz="1800" dirty="0"/>
          </a:p>
        </p:txBody>
      </p:sp>
      <p:sp>
        <p:nvSpPr>
          <p:cNvPr id="35" name="texto-84"/>
          <p:cNvSpPr txBox="1"/>
          <p:nvPr/>
        </p:nvSpPr>
        <p:spPr>
          <a:xfrm>
            <a:off x="6217920" y="42519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Casos 13–15 usan el pedido que creó la propia suite (ya no uno de la carga demo).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Chequeos globales en los 28 requests: tiempo, JSON y formato de error.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API real en cada corrida, y ningún despliegue</a:t>
            </a:r>
            <a:endParaRPr lang="en-US" sz="3000" dirty="0"/>
          </a:p>
        </p:txBody>
      </p:sp>
      <p:sp>
        <p:nvSpPr>
          <p:cNvPr id="3" name="tarjeta-85"/>
          <p:cNvSpPr/>
          <p:nvPr/>
        </p:nvSpPr>
        <p:spPr>
          <a:xfrm>
            <a:off x="548640" y="146304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86"/>
          <p:cNvSpPr txBox="1"/>
          <p:nvPr/>
        </p:nvSpPr>
        <p:spPr>
          <a:xfrm>
            <a:off x="731520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1. Disparo</a:t>
            </a:r>
            <a:endParaRPr lang="en-US" sz="1800" dirty="0"/>
          </a:p>
        </p:txBody>
      </p:sp>
      <p:sp>
        <p:nvSpPr>
          <p:cNvPr id="5" name="texto-87"/>
          <p:cNvSpPr txBox="1"/>
          <p:nvPr/>
        </p:nvSpPr>
        <p:spPr>
          <a:xfrm>
            <a:off x="731520" y="2148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Push, pull request, todos los días a las 9, o a mano</a:t>
            </a:r>
            <a:endParaRPr lang="en-US" sz="1400" dirty="0"/>
          </a:p>
        </p:txBody>
      </p:sp>
      <p:sp>
        <p:nvSpPr>
          <p:cNvPr id="6" name="tarjeta-88"/>
          <p:cNvSpPr/>
          <p:nvPr/>
        </p:nvSpPr>
        <p:spPr>
          <a:xfrm>
            <a:off x="2807208" y="146304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-89"/>
          <p:cNvSpPr txBox="1"/>
          <p:nvPr/>
        </p:nvSpPr>
        <p:spPr>
          <a:xfrm>
            <a:off x="2990088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2. API aislada</a:t>
            </a:r>
            <a:endParaRPr lang="en-US" sz="1800" dirty="0"/>
          </a:p>
        </p:txBody>
      </p:sp>
      <p:sp>
        <p:nvSpPr>
          <p:cNvPr id="8" name="texto-90"/>
          <p:cNvSpPr txBox="1"/>
          <p:nvPr/>
        </p:nvSpPr>
        <p:spPr>
          <a:xfrm>
            <a:off x="2990088" y="2148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MySQL 8 nuevo + backend 30a29d1 compilado, con JaCoCo</a:t>
            </a:r>
            <a:endParaRPr lang="en-US" sz="1400" dirty="0"/>
          </a:p>
        </p:txBody>
      </p:sp>
      <p:sp>
        <p:nvSpPr>
          <p:cNvPr id="9" name="tarjeta-91"/>
          <p:cNvSpPr/>
          <p:nvPr/>
        </p:nvSpPr>
        <p:spPr>
          <a:xfrm>
            <a:off x="5065776" y="146304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-92"/>
          <p:cNvSpPr txBox="1"/>
          <p:nvPr/>
        </p:nvSpPr>
        <p:spPr>
          <a:xfrm>
            <a:off x="5248656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3. Newman</a:t>
            </a:r>
            <a:endParaRPr lang="en-US" sz="1800" dirty="0"/>
          </a:p>
        </p:txBody>
      </p:sp>
      <p:sp>
        <p:nvSpPr>
          <p:cNvPr id="11" name="texto-93"/>
          <p:cNvSpPr txBox="1"/>
          <p:nvPr/>
        </p:nvSpPr>
        <p:spPr>
          <a:xfrm>
            <a:off x="5248656" y="2148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22 casos, N iteraciones a pedido</a:t>
            </a:r>
            <a:endParaRPr lang="en-US" sz="1400" dirty="0"/>
          </a:p>
        </p:txBody>
      </p:sp>
      <p:sp>
        <p:nvSpPr>
          <p:cNvPr id="12" name="tarjeta-94"/>
          <p:cNvSpPr/>
          <p:nvPr/>
        </p:nvSpPr>
        <p:spPr>
          <a:xfrm>
            <a:off x="7324344" y="146304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o-95"/>
          <p:cNvSpPr txBox="1"/>
          <p:nvPr/>
        </p:nvSpPr>
        <p:spPr>
          <a:xfrm>
            <a:off x="7507224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4. Reportes</a:t>
            </a:r>
            <a:endParaRPr lang="en-US" sz="1800" dirty="0"/>
          </a:p>
        </p:txBody>
      </p:sp>
      <p:sp>
        <p:nvSpPr>
          <p:cNvPr id="14" name="texto-96"/>
          <p:cNvSpPr txBox="1"/>
          <p:nvPr/>
        </p:nvSpPr>
        <p:spPr>
          <a:xfrm>
            <a:off x="7507224" y="2148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HTML, JSON, cobertura y resumen en Actions</a:t>
            </a:r>
            <a:endParaRPr lang="en-US" sz="1400" dirty="0"/>
          </a:p>
        </p:txBody>
      </p:sp>
      <p:sp>
        <p:nvSpPr>
          <p:cNvPr id="15" name="tarjeta-97"/>
          <p:cNvSpPr/>
          <p:nvPr/>
        </p:nvSpPr>
        <p:spPr>
          <a:xfrm>
            <a:off x="9582912" y="1463040"/>
            <a:ext cx="2057400" cy="1920240"/>
          </a:xfrm>
          <a:prstGeom prst="roundRect">
            <a:avLst>
              <a:gd name="adj" fmla="val 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o-98"/>
          <p:cNvSpPr txBox="1"/>
          <p:nvPr/>
        </p:nvSpPr>
        <p:spPr>
          <a:xfrm>
            <a:off x="9765792" y="1645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5. Entrega</a:t>
            </a:r>
            <a:endParaRPr lang="en-US" sz="1800" dirty="0"/>
          </a:p>
        </p:txBody>
      </p:sp>
      <p:sp>
        <p:nvSpPr>
          <p:cNvPr id="17" name="texto-99"/>
          <p:cNvSpPr txBox="1"/>
          <p:nvPr/>
        </p:nvSpPr>
        <p:spPr>
          <a:xfrm>
            <a:off x="9765792" y="2148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Último reporte publicado en GitHub Pages</a:t>
            </a:r>
            <a:endParaRPr lang="en-US" sz="1400" dirty="0"/>
          </a:p>
        </p:txBody>
      </p:sp>
      <p:sp>
        <p:nvSpPr>
          <p:cNvPr id="18" name="tarjeta-100"/>
          <p:cNvSpPr/>
          <p:nvPr/>
        </p:nvSpPr>
        <p:spPr>
          <a:xfrm>
            <a:off x="548640" y="37490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o-101"/>
          <p:cNvSpPr txBox="1"/>
          <p:nvPr/>
        </p:nvSpPr>
        <p:spPr>
          <a:xfrm>
            <a:off x="82296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Job manual contra el instituto</a:t>
            </a:r>
            <a:endParaRPr lang="en-US" sz="1800" dirty="0"/>
          </a:p>
        </p:txBody>
      </p:sp>
      <p:sp>
        <p:nvSpPr>
          <p:cNvPr id="20" name="texto-102"/>
          <p:cNvSpPr txBox="1"/>
          <p:nvPr/>
        </p:nvSpPr>
        <p:spPr>
          <a:xfrm>
            <a:off x="822960" y="4434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Solo con el botón Run workflow y de una sola vuelta.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Contraseñas en secretos de GitHub, nunca en el repo.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concurrency: nunca dos corridas a la vez.</a:t>
            </a:r>
            <a:endParaRPr lang="en-US" sz="1500" dirty="0"/>
          </a:p>
        </p:txBody>
      </p:sp>
      <p:sp>
        <p:nvSpPr>
          <p:cNvPr id="21" name="tarjeta-103"/>
          <p:cNvSpPr/>
          <p:nvPr/>
        </p:nvSpPr>
        <p:spPr>
          <a:xfrm>
            <a:off x="6172200" y="37490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o-104"/>
          <p:cNvSpPr txBox="1"/>
          <p:nvPr/>
        </p:nvSpPr>
        <p:spPr>
          <a:xfrm>
            <a:off x="6446520" y="3931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 qué no hay despliegue</a:t>
            </a:r>
            <a:endParaRPr lang="en-US" sz="1800" dirty="0"/>
          </a:p>
        </p:txBody>
      </p:sp>
      <p:sp>
        <p:nvSpPr>
          <p:cNvPr id="23" name="texto-105"/>
          <p:cNvSpPr txBox="1"/>
          <p:nvPr/>
        </p:nvSpPr>
        <p:spPr>
          <a:xfrm>
            <a:off x="6446520" y="4434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 servidor del instituto comparte máquina y base de datos con un sistema en producción con cadetes reales. El pipeline no tiene ninguna clave del servidor: nuestra entrega continua es un reporte confiable.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Cinco decisiones que podemos defender</a:t>
            </a:r>
            <a:endParaRPr lang="en-US" sz="3000" dirty="0"/>
          </a:p>
        </p:txBody>
      </p:sp>
      <p:sp>
        <p:nvSpPr>
          <p:cNvPr id="3" name="numero-106"/>
          <p:cNvSpPr/>
          <p:nvPr/>
        </p:nvSpPr>
        <p:spPr>
          <a:xfrm>
            <a:off x="548640" y="143560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4" name="texto-107"/>
          <p:cNvSpPr txBox="1"/>
          <p:nvPr/>
        </p:nvSpPr>
        <p:spPr>
          <a:xfrm>
            <a:off x="54864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o-108"/>
          <p:cNvSpPr txBox="1"/>
          <p:nvPr/>
        </p:nvSpPr>
        <p:spPr>
          <a:xfrm>
            <a:off x="1325880" y="14356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Sacamos el mock</a:t>
            </a:r>
            <a:endParaRPr lang="en-US" sz="1800" dirty="0"/>
          </a:p>
        </p:txBody>
      </p:sp>
      <p:sp>
        <p:nvSpPr>
          <p:cNvPr id="6" name="texto-109"/>
          <p:cNvSpPr txBox="1"/>
          <p:nvPr/>
        </p:nvSpPr>
        <p:spPr>
          <a:xfrm>
            <a:off x="4937760" y="137160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Daba verde donde la API real falla y su contrato había quedado viejo. Mantener los dos era deuda técnica.</a:t>
            </a:r>
            <a:endParaRPr lang="en-US" sz="1500" dirty="0"/>
          </a:p>
        </p:txBody>
      </p:sp>
      <p:sp>
        <p:nvSpPr>
          <p:cNvPr id="7" name="numero-110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8" name="texto-111"/>
          <p:cNvSpPr txBox="1"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o-112"/>
          <p:cNvSpPr txBox="1"/>
          <p:nvPr/>
        </p:nvSpPr>
        <p:spPr>
          <a:xfrm>
            <a:off x="1325880" y="2423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suite crea sus propios datos</a:t>
            </a:r>
            <a:endParaRPr lang="en-US" sz="1800" dirty="0"/>
          </a:p>
        </p:txBody>
      </p:sp>
      <p:sp>
        <p:nvSpPr>
          <p:cNvPr id="10" name="texto-113"/>
          <p:cNvSpPr txBox="1"/>
          <p:nvPr/>
        </p:nvSpPr>
        <p:spPr>
          <a:xfrm>
            <a:off x="4937760" y="23591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carga demo reparte pedidos y reclamos al azar: un caso fallaba en 1 de cada 6 bases sin error real.</a:t>
            </a:r>
            <a:endParaRPr lang="en-US" sz="1500" dirty="0"/>
          </a:p>
        </p:txBody>
      </p:sp>
      <p:sp>
        <p:nvSpPr>
          <p:cNvPr id="11" name="numero-114"/>
          <p:cNvSpPr/>
          <p:nvPr/>
        </p:nvSpPr>
        <p:spPr>
          <a:xfrm>
            <a:off x="548640" y="3410712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2" name="texto-115"/>
          <p:cNvSpPr txBox="1"/>
          <p:nvPr/>
        </p:nvSpPr>
        <p:spPr>
          <a:xfrm>
            <a:off x="54864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o-116"/>
          <p:cNvSpPr txBox="1"/>
          <p:nvPr/>
        </p:nvSpPr>
        <p:spPr>
          <a:xfrm>
            <a:off x="1325880" y="34107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Mandamos X-App-Version como la APK</a:t>
            </a:r>
            <a:endParaRPr lang="en-US" sz="1800" dirty="0"/>
          </a:p>
        </p:txBody>
      </p:sp>
      <p:sp>
        <p:nvSpPr>
          <p:cNvPr id="14" name="texto-117"/>
          <p:cNvSpPr txBox="1"/>
          <p:nvPr/>
        </p:nvSpPr>
        <p:spPr>
          <a:xfrm>
            <a:off x="4937760" y="3346704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Sin el header, la API usa la versión del último login: el resultado dependía de quién había entrado antes.</a:t>
            </a:r>
            <a:endParaRPr lang="en-US" sz="1500" dirty="0"/>
          </a:p>
        </p:txBody>
      </p:sp>
      <p:sp>
        <p:nvSpPr>
          <p:cNvPr id="15" name="numero-118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6" name="texto-119"/>
          <p:cNvSpPr txBox="1"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o-120"/>
          <p:cNvSpPr txBox="1"/>
          <p:nvPr/>
        </p:nvSpPr>
        <p:spPr>
          <a:xfrm>
            <a:off x="1325880" y="439826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 pruebas de carga en el servidor</a:t>
            </a:r>
            <a:endParaRPr lang="en-US" sz="1800" dirty="0"/>
          </a:p>
        </p:txBody>
      </p:sp>
      <p:sp>
        <p:nvSpPr>
          <p:cNvPr id="18" name="texto-121"/>
          <p:cNvSpPr txBox="1"/>
          <p:nvPr/>
        </p:nvSpPr>
        <p:spPr>
          <a:xfrm>
            <a:off x="4937760" y="4334256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 instituto comparte 2 vCPU y 4 GB con producción. Los tiempos se miden en la API aislada.</a:t>
            </a:r>
            <a:endParaRPr lang="en-US" sz="1500" dirty="0"/>
          </a:p>
        </p:txBody>
      </p:sp>
      <p:sp>
        <p:nvSpPr>
          <p:cNvPr id="19" name="numero-122"/>
          <p:cNvSpPr/>
          <p:nvPr/>
        </p:nvSpPr>
        <p:spPr>
          <a:xfrm>
            <a:off x="548640" y="5385816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20" name="texto-123"/>
          <p:cNvSpPr txBox="1"/>
          <p:nvPr/>
        </p:nvSpPr>
        <p:spPr>
          <a:xfrm>
            <a:off x="548640" y="5385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1" name="texto-124"/>
          <p:cNvSpPr txBox="1"/>
          <p:nvPr/>
        </p:nvSpPr>
        <p:spPr>
          <a:xfrm>
            <a:off x="1325880" y="538581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Flujo corto, no exhaustivo</a:t>
            </a:r>
            <a:endParaRPr lang="en-US" sz="1800" dirty="0"/>
          </a:p>
        </p:txBody>
      </p:sp>
      <p:sp>
        <p:nvSpPr>
          <p:cNvPr id="22" name="texto-125"/>
          <p:cNvSpPr txBox="1"/>
          <p:nvPr/>
        </p:nvSpPr>
        <p:spPr>
          <a:xfrm>
            <a:off x="4937760" y="532180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7 casos cubren el camino crítico y el antifraude. 18 eran más mantenimiento para casi el mismo riesgo.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Más estable y más profunda</a:t>
            </a:r>
            <a:endParaRPr lang="en-US" sz="3000" dirty="0"/>
          </a:p>
        </p:txBody>
      </p:sp>
      <p:graphicFrame>
        <p:nvGraphicFramePr>
          <p:cNvPr id="3" name="grafico-cobertura" descr=""/>
          <p:cNvGraphicFramePr/>
          <p:nvPr/>
        </p:nvGraphicFramePr>
        <p:xfrm>
          <a:off x="548640" y="13716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-126"/>
          <p:cNvSpPr/>
          <p:nvPr/>
        </p:nvSpPr>
        <p:spPr>
          <a:xfrm>
            <a:off x="7498080" y="1417320"/>
            <a:ext cx="4114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o-127"/>
          <p:cNvSpPr txBox="1"/>
          <p:nvPr/>
        </p:nvSpPr>
        <p:spPr>
          <a:xfrm>
            <a:off x="7726680" y="1527048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30 / 30</a:t>
            </a:r>
            <a:endParaRPr lang="en-US" sz="2800" dirty="0"/>
          </a:p>
        </p:txBody>
      </p:sp>
      <p:sp>
        <p:nvSpPr>
          <p:cNvPr id="6" name="texto-128"/>
          <p:cNvSpPr txBox="1"/>
          <p:nvPr/>
        </p:nvSpPr>
        <p:spPr>
          <a:xfrm>
            <a:off x="9372600" y="152704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 verde; antes 0 / 30</a:t>
            </a:r>
            <a:endParaRPr lang="en-US" sz="1300" dirty="0"/>
          </a:p>
        </p:txBody>
      </p:sp>
      <p:sp>
        <p:nvSpPr>
          <p:cNvPr id="7" name="tarjeta-129"/>
          <p:cNvSpPr/>
          <p:nvPr/>
        </p:nvSpPr>
        <p:spPr>
          <a:xfrm>
            <a:off x="7498080" y="2532888"/>
            <a:ext cx="4114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-130"/>
          <p:cNvSpPr txBox="1"/>
          <p:nvPr/>
        </p:nvSpPr>
        <p:spPr>
          <a:xfrm>
            <a:off x="7726680" y="2642616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</a:t>
            </a:r>
            <a:endParaRPr lang="en-US" sz="2800" dirty="0"/>
          </a:p>
        </p:txBody>
      </p:sp>
      <p:sp>
        <p:nvSpPr>
          <p:cNvPr id="9" name="texto-131"/>
          <p:cNvSpPr txBox="1"/>
          <p:nvPr/>
        </p:nvSpPr>
        <p:spPr>
          <a:xfrm>
            <a:off x="9372600" y="264261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aserciones fallidas en 3.875</a:t>
            </a:r>
            <a:endParaRPr lang="en-US" sz="1300" dirty="0"/>
          </a:p>
        </p:txBody>
      </p:sp>
      <p:sp>
        <p:nvSpPr>
          <p:cNvPr id="10" name="tarjeta-132"/>
          <p:cNvSpPr/>
          <p:nvPr/>
        </p:nvSpPr>
        <p:spPr>
          <a:xfrm>
            <a:off x="7498080" y="3648456"/>
            <a:ext cx="4114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o-133"/>
          <p:cNvSpPr txBox="1"/>
          <p:nvPr/>
        </p:nvSpPr>
        <p:spPr>
          <a:xfrm>
            <a:off x="7726680" y="3758184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 → 11</a:t>
            </a:r>
            <a:endParaRPr lang="en-US" sz="2800" dirty="0"/>
          </a:p>
        </p:txBody>
      </p:sp>
      <p:sp>
        <p:nvSpPr>
          <p:cNvPr id="12" name="texto-134"/>
          <p:cNvSpPr txBox="1"/>
          <p:nvPr/>
        </p:nvSpPr>
        <p:spPr>
          <a:xfrm>
            <a:off x="9372600" y="375818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endpoints con casos, de 201</a:t>
            </a:r>
            <a:endParaRPr lang="en-US" sz="1300" dirty="0"/>
          </a:p>
        </p:txBody>
      </p:sp>
      <p:sp>
        <p:nvSpPr>
          <p:cNvPr id="13" name="tarjeta-135"/>
          <p:cNvSpPr/>
          <p:nvPr/>
        </p:nvSpPr>
        <p:spPr>
          <a:xfrm>
            <a:off x="7498080" y="4764024"/>
            <a:ext cx="411480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-136"/>
          <p:cNvSpPr txBox="1"/>
          <p:nvPr/>
        </p:nvSpPr>
        <p:spPr>
          <a:xfrm>
            <a:off x="7726680" y="487375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≈ 3,5 s</a:t>
            </a:r>
            <a:endParaRPr lang="en-US" sz="2800" dirty="0"/>
          </a:p>
        </p:txBody>
      </p:sp>
      <p:sp>
        <p:nvSpPr>
          <p:cNvPr id="15" name="texto-137"/>
          <p:cNvSpPr txBox="1"/>
          <p:nvPr/>
        </p:nvSpPr>
        <p:spPr>
          <a:xfrm>
            <a:off x="9372600" y="48737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una corrida completa, 28 requests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Tres hallazgos y lo que significan para el negocio</a:t>
            </a:r>
            <a:endParaRPr lang="en-US" sz="3000" dirty="0"/>
          </a:p>
        </p:txBody>
      </p:sp>
      <p:sp>
        <p:nvSpPr>
          <p:cNvPr id="3" name="tarjeta-138"/>
          <p:cNvSpPr/>
          <p:nvPr/>
        </p:nvSpPr>
        <p:spPr>
          <a:xfrm>
            <a:off x="548640" y="1417320"/>
            <a:ext cx="3520440" cy="36576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139"/>
          <p:cNvSpPr txBox="1"/>
          <p:nvPr/>
        </p:nvSpPr>
        <p:spPr>
          <a:xfrm>
            <a:off x="82296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H1</a:t>
            </a:r>
            <a:endParaRPr lang="en-US" sz="2400" dirty="0"/>
          </a:p>
        </p:txBody>
      </p:sp>
      <p:sp>
        <p:nvSpPr>
          <p:cNvPr id="5" name="estado-140"/>
          <p:cNvSpPr txBox="1"/>
          <p:nvPr/>
        </p:nvSpPr>
        <p:spPr>
          <a:xfrm>
            <a:off x="1965960" y="1709928"/>
            <a:ext cx="1828800" cy="329184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SEVERIDAD ALTA</a:t>
            </a:r>
            <a:endParaRPr lang="en-US" sz="1200" dirty="0"/>
          </a:p>
        </p:txBody>
      </p:sp>
      <p:sp>
        <p:nvSpPr>
          <p:cNvPr id="6" name="texto-141"/>
          <p:cNvSpPr txBox="1"/>
          <p:nvPr/>
        </p:nvSpPr>
        <p:spPr>
          <a:xfrm>
            <a:off x="822960" y="2331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El mock mentía</a:t>
            </a:r>
            <a:endParaRPr lang="en-US" sz="2000" dirty="0"/>
          </a:p>
        </p:txBody>
      </p:sp>
      <p:sp>
        <p:nvSpPr>
          <p:cNvPr id="7" name="texto-142"/>
          <p:cNvSpPr txBox="1"/>
          <p:nvPr/>
        </p:nvSpPr>
        <p:spPr>
          <a:xfrm>
            <a:off x="822960" y="29718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Verde contra la imitación, rojo contra la API real. Si esa suite hubiera aprobado un despliegue, habría aprobado algo sin verificarlo.</a:t>
            </a:r>
            <a:endParaRPr lang="en-US" sz="1600" dirty="0"/>
          </a:p>
        </p:txBody>
      </p:sp>
      <p:sp>
        <p:nvSpPr>
          <p:cNvPr id="8" name="tarjeta-143"/>
          <p:cNvSpPr/>
          <p:nvPr/>
        </p:nvSpPr>
        <p:spPr>
          <a:xfrm>
            <a:off x="4297680" y="1417320"/>
            <a:ext cx="3520440" cy="36576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o-144"/>
          <p:cNvSpPr txBox="1"/>
          <p:nvPr/>
        </p:nvSpPr>
        <p:spPr>
          <a:xfrm>
            <a:off x="45720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H3</a:t>
            </a:r>
            <a:endParaRPr lang="en-US" sz="2400" dirty="0"/>
          </a:p>
        </p:txBody>
      </p:sp>
      <p:sp>
        <p:nvSpPr>
          <p:cNvPr id="10" name="estado-145"/>
          <p:cNvSpPr txBox="1"/>
          <p:nvPr/>
        </p:nvSpPr>
        <p:spPr>
          <a:xfrm>
            <a:off x="5715000" y="1709928"/>
            <a:ext cx="1828800" cy="329184"/>
          </a:xfrm>
          <a:prstGeom prst="roundRect">
            <a:avLst>
              <a:gd name="adj" fmla="val 4166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SEVERIDAD MEDIA</a:t>
            </a:r>
            <a:endParaRPr lang="en-US" sz="1200" dirty="0"/>
          </a:p>
        </p:txBody>
      </p:sp>
      <p:sp>
        <p:nvSpPr>
          <p:cNvPr id="11" name="texto-146"/>
          <p:cNvSpPr txBox="1"/>
          <p:nvPr/>
        </p:nvSpPr>
        <p:spPr>
          <a:xfrm>
            <a:off x="4572000" y="2331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Datos demo al azar</a:t>
            </a:r>
            <a:endParaRPr lang="en-US" sz="2000" dirty="0"/>
          </a:p>
        </p:txBody>
      </p:sp>
      <p:sp>
        <p:nvSpPr>
          <p:cNvPr id="12" name="texto-147"/>
          <p:cNvSpPr txBox="1"/>
          <p:nvPr/>
        </p:nvSpPr>
        <p:spPr>
          <a:xfrm>
            <a:off x="4572000" y="29718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 caso fallaba en 1 de cada 6 bases sin error real. Las pruebas que fallan a veces hacen que el equipo ignore los rojos, también los reales.</a:t>
            </a:r>
            <a:endParaRPr lang="en-US" sz="1600" dirty="0"/>
          </a:p>
        </p:txBody>
      </p:sp>
      <p:sp>
        <p:nvSpPr>
          <p:cNvPr id="13" name="tarjeta-148"/>
          <p:cNvSpPr/>
          <p:nvPr/>
        </p:nvSpPr>
        <p:spPr>
          <a:xfrm>
            <a:off x="8046720" y="1417320"/>
            <a:ext cx="3520440" cy="36576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o-149"/>
          <p:cNvSpPr txBox="1"/>
          <p:nvPr/>
        </p:nvSpPr>
        <p:spPr>
          <a:xfrm>
            <a:off x="832104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H5</a:t>
            </a:r>
            <a:endParaRPr lang="en-US" sz="2400" dirty="0"/>
          </a:p>
        </p:txBody>
      </p:sp>
      <p:sp>
        <p:nvSpPr>
          <p:cNvPr id="15" name="estado-150"/>
          <p:cNvSpPr txBox="1"/>
          <p:nvPr/>
        </p:nvSpPr>
        <p:spPr>
          <a:xfrm>
            <a:off x="9464040" y="1709928"/>
            <a:ext cx="1828800" cy="329184"/>
          </a:xfrm>
          <a:prstGeom prst="roundRect">
            <a:avLst>
              <a:gd name="adj" fmla="val 41667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SEVERIDAD ALTA</a:t>
            </a:r>
            <a:endParaRPr lang="en-US" sz="1200" dirty="0"/>
          </a:p>
        </p:txBody>
      </p:sp>
      <p:sp>
        <p:nvSpPr>
          <p:cNvPr id="16" name="texto-151"/>
          <p:cNvSpPr txBox="1"/>
          <p:nvPr/>
        </p:nvSpPr>
        <p:spPr>
          <a:xfrm>
            <a:off x="8321040" y="23317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Bloqueo de cuentas por DNI</a:t>
            </a:r>
            <a:endParaRPr lang="en-US" sz="2000" dirty="0"/>
          </a:p>
        </p:txBody>
      </p:sp>
      <p:sp>
        <p:nvSpPr>
          <p:cNvPr id="17" name="texto-152"/>
          <p:cNvSpPr txBox="1"/>
          <p:nvPr/>
        </p:nvSpPr>
        <p:spPr>
          <a:xfrm>
            <a:off x="8321040" y="297180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5 contraseñas mal y la cuenta queda bloqueada 15 min. El usuario es el DNI: cualquiera que lo sepa puede dejar a un cadete sin trabajar.</a:t>
            </a:r>
            <a:endParaRPr lang="en-US" sz="1600" dirty="0"/>
          </a:p>
        </p:txBody>
      </p:sp>
      <p:sp>
        <p:nvSpPr>
          <p:cNvPr id="18" name="texto-153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Los 8 hallazgos, con su recomendación: docs/sprint4/analisis-resultados.md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 que aprendimos</a:t>
            </a:r>
            <a:endParaRPr lang="en-US" sz="3000" dirty="0"/>
          </a:p>
        </p:txBody>
      </p:sp>
      <p:sp>
        <p:nvSpPr>
          <p:cNvPr id="3" name="tarjeta-154"/>
          <p:cNvSpPr/>
          <p:nvPr/>
        </p:nvSpPr>
        <p:spPr>
          <a:xfrm>
            <a:off x="548640" y="1417320"/>
            <a:ext cx="54406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o-155"/>
          <p:cNvSpPr txBox="1"/>
          <p:nvPr/>
        </p:nvSpPr>
        <p:spPr>
          <a:xfrm>
            <a:off x="822960" y="1645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Un verde vale lo que vale el sistema contra el que corre</a:t>
            </a:r>
            <a:endParaRPr lang="en-US" sz="1900" dirty="0"/>
          </a:p>
        </p:txBody>
      </p:sp>
      <p:sp>
        <p:nvSpPr>
          <p:cNvPr id="5" name="texto-156"/>
          <p:cNvSpPr txBox="1"/>
          <p:nvPr/>
        </p:nvSpPr>
        <p:spPr>
          <a:xfrm>
            <a:off x="822960" y="24231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 mock nos dio un sprint de tranquilidad falsa.</a:t>
            </a:r>
            <a:endParaRPr lang="en-US" sz="1500" dirty="0"/>
          </a:p>
        </p:txBody>
      </p:sp>
      <p:sp>
        <p:nvSpPr>
          <p:cNvPr id="6" name="tarjeta-157"/>
          <p:cNvSpPr/>
          <p:nvPr/>
        </p:nvSpPr>
        <p:spPr>
          <a:xfrm>
            <a:off x="6172200" y="1417320"/>
            <a:ext cx="54406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o-158"/>
          <p:cNvSpPr txBox="1"/>
          <p:nvPr/>
        </p:nvSpPr>
        <p:spPr>
          <a:xfrm>
            <a:off x="6446520" y="1645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Configurado no es funcionando</a:t>
            </a:r>
            <a:endParaRPr lang="en-US" sz="1900" dirty="0"/>
          </a:p>
        </p:txBody>
      </p:sp>
      <p:sp>
        <p:nvSpPr>
          <p:cNvPr id="8" name="texto-159"/>
          <p:cNvSpPr txBox="1"/>
          <p:nvPr/>
        </p:nvSpPr>
        <p:spPr>
          <a:xfrm>
            <a:off x="6446520" y="24231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 job contra la API real del Sprint 3 buscaba un archivo que no existe: nunca había corrido.</a:t>
            </a:r>
            <a:endParaRPr lang="en-US" sz="1500" dirty="0"/>
          </a:p>
        </p:txBody>
      </p:sp>
      <p:sp>
        <p:nvSpPr>
          <p:cNvPr id="9" name="tarjeta-160"/>
          <p:cNvSpPr/>
          <p:nvPr/>
        </p:nvSpPr>
        <p:spPr>
          <a:xfrm>
            <a:off x="548640" y="3703320"/>
            <a:ext cx="54406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-161"/>
          <p:cNvSpPr txBox="1"/>
          <p:nvPr/>
        </p:nvSpPr>
        <p:spPr>
          <a:xfrm>
            <a:off x="822960" y="3931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La inestabilidad viene de los datos</a:t>
            </a:r>
            <a:endParaRPr lang="en-US" sz="1900" dirty="0"/>
          </a:p>
        </p:txBody>
      </p:sp>
      <p:sp>
        <p:nvSpPr>
          <p:cNvPr id="11" name="texto-162"/>
          <p:cNvSpPr txBox="1"/>
          <p:nvPr/>
        </p:nvSpPr>
        <p:spPr>
          <a:xfrm>
            <a:off x="822960" y="47091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Los dos falsos fallos venían de datos que la suite no controlaba.</a:t>
            </a:r>
            <a:endParaRPr lang="en-US" sz="1500" dirty="0"/>
          </a:p>
        </p:txBody>
      </p:sp>
      <p:sp>
        <p:nvSpPr>
          <p:cNvPr id="12" name="tarjeta-163"/>
          <p:cNvSpPr/>
          <p:nvPr/>
        </p:nvSpPr>
        <p:spPr>
          <a:xfrm>
            <a:off x="6172200" y="3703320"/>
            <a:ext cx="544068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o-164"/>
          <p:cNvSpPr txBox="1"/>
          <p:nvPr/>
        </p:nvSpPr>
        <p:spPr>
          <a:xfrm>
            <a:off x="6446520" y="39319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Medir antes de optimizar</a:t>
            </a:r>
            <a:endParaRPr lang="en-US" sz="1900" dirty="0"/>
          </a:p>
        </p:txBody>
      </p:sp>
      <p:sp>
        <p:nvSpPr>
          <p:cNvPr id="14" name="texto-165"/>
          <p:cNvSpPr txBox="1"/>
          <p:nvPr/>
        </p:nvSpPr>
        <p:spPr>
          <a:xfrm>
            <a:off x="6446520" y="47091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Sin la línea de base (0 / 30), "mejoramos la suite" no se podía demostrar.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Hacer mejor, no más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Estable: 30 / 30 contra la API real · Útil: verifica las reglas que protegen la plata · Ya encontró un riesgo de seguridad</a:t>
            </a:r>
            <a:endParaRPr lang="en-US" sz="2000" dirty="0"/>
          </a:p>
        </p:txBody>
      </p:sp>
      <p:sp>
        <p:nvSpPr>
          <p:cNvPr id="4" name="texto-166"/>
          <p:cNvSpPr txBox="1"/>
          <p:nvPr/>
        </p:nvSpPr>
        <p:spPr>
          <a:xfrm>
            <a:off x="731520" y="45720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Próximos pasos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Reportar y corregir H5; sumar su caso de regresión.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Cubrir rechazo, reasignación y no entregado.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accent6"/>
                </a:solidFill>
              </a:rPr>
              <a:t>Que la suite sea la puerta antes de cada despliegue del backend.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ite verde">
  <a:themeElements>
    <a:clrScheme name="Suite verde">
      <a:dk1>
        <a:srgbClr val="17202B"/>
      </a:dk1>
      <a:lt1>
        <a:srgbClr val="FFFFFF"/>
      </a:lt1>
      <a:dk2>
        <a:srgbClr val="2A3646"/>
      </a:dk2>
      <a:lt2>
        <a:srgbClr val="EEF2F5"/>
      </a:lt2>
      <a:accent1>
        <a:srgbClr val="1F9D6B"/>
      </a:accent1>
      <a:accent2>
        <a:srgbClr val="D9434A"/>
      </a:accent2>
      <a:accent3>
        <a:srgbClr val="E8A33D"/>
      </a:accent3>
      <a:accent4>
        <a:srgbClr val="3B6EA5"/>
      </a:accent4>
      <a:accent5>
        <a:srgbClr val="7A8796"/>
      </a:accent5>
      <a:accent6>
        <a:srgbClr val="B8C4CF"/>
      </a:accent6>
      <a:hlink>
        <a:srgbClr val="3B6EA5"/>
      </a:hlink>
      <a:folHlink>
        <a:srgbClr val="7A8796"/>
      </a:folHlink>
    </a:clrScheme>
    <a:fontScheme name="Suite ver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4 - Defensa final - Grupo 5</dc:title>
  <dc:subject>PptxGenJS Presentation</dc:subject>
  <dc:creator>Grupo 5 - IES Alfredo Coviello</dc:creator>
  <cp:lastModifiedBy>Grupo 5 - IES Alfredo Coviello</cp:lastModifiedBy>
  <cp:revision>1</cp:revision>
  <dcterms:created xsi:type="dcterms:W3CDTF">2026-10-28T03:08:50Z</dcterms:created>
  <dcterms:modified xsi:type="dcterms:W3CDTF">2026-10-28T03:08:50Z</dcterms:modified>
</cp:coreProperties>
</file>